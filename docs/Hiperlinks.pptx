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DD794D-7521-D714-0EE4-6DDB4DECFD72}" v="2" dt="2026-10-07T18:41:31.8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7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37160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Hiperlinks e Navegação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743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DCE6F0"/>
                </a:solidFill>
              </a:defRPr>
            </a:pPr>
            <a:r>
              <a:t>Design e Criação de Sites para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6576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Como conectar páginas e criar caminhos dentro de um site.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F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Objetivos da aula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8"/>
                </a:solidFill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82D"/>
                </a:solidFill>
              </a:defRPr>
            </a:pPr>
            <a:r>
              <a:t>Criar hiperlinks em HTML.</a:t>
            </a:r>
          </a:p>
          <a:p>
            <a:pPr>
              <a:spcAft>
                <a:spcPts val="1200"/>
              </a:spcAft>
              <a:defRPr sz="2100">
                <a:solidFill>
                  <a:srgbClr val="23282D"/>
                </a:solidFill>
              </a:defRPr>
            </a:pPr>
            <a:r>
              <a:t>Criar links para outras páginas e sites externos.</a:t>
            </a:r>
          </a:p>
          <a:p>
            <a:pPr>
              <a:spcAft>
                <a:spcPts val="1200"/>
              </a:spcAft>
              <a:defRPr sz="2100">
                <a:solidFill>
                  <a:srgbClr val="23282D"/>
                </a:solidFill>
              </a:defRPr>
            </a:pPr>
            <a:r>
              <a:t>Criar links para partes da mesma página.</a:t>
            </a:r>
          </a:p>
          <a:p>
            <a:pPr>
              <a:spcAft>
                <a:spcPts val="1200"/>
              </a:spcAft>
              <a:defRPr sz="2100">
                <a:solidFill>
                  <a:srgbClr val="23282D"/>
                </a:solidFill>
              </a:defRPr>
            </a:pPr>
            <a:r>
              <a:t>Criar links para e-mail, telefone e arquivos.</a:t>
            </a:r>
          </a:p>
          <a:p>
            <a:pPr>
              <a:spcAft>
                <a:spcPts val="1200"/>
              </a:spcAft>
              <a:defRPr sz="2100">
                <a:solidFill>
                  <a:srgbClr val="23282D"/>
                </a:solidFill>
              </a:defRPr>
            </a:pPr>
            <a:r>
              <a:t>Organizar menus e estruturas de navegação.</a:t>
            </a:r>
          </a:p>
          <a:p>
            <a:pPr>
              <a:spcAft>
                <a:spcPts val="1200"/>
              </a:spcAft>
              <a:defRPr sz="2100">
                <a:solidFill>
                  <a:srgbClr val="23282D"/>
                </a:solidFill>
              </a:defRPr>
            </a:pPr>
            <a:r>
              <a:t>Construir um pequeno site com páginas conectadas.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F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O que é um hiperlink?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8"/>
                </a:solidFill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82D"/>
                </a:solidFill>
              </a:defRPr>
            </a:pPr>
            <a:r>
              <a:t>Um hiperlink permite navegar de um conteúdo para outro.</a:t>
            </a:r>
          </a:p>
          <a:p>
            <a:pPr>
              <a:spcAft>
                <a:spcPts val="1200"/>
              </a:spcAft>
              <a:defRPr sz="2100">
                <a:solidFill>
                  <a:srgbClr val="23282D"/>
                </a:solidFill>
              </a:defRPr>
            </a:pPr>
            <a:r>
              <a:t>Pode levar o usuário para outra página, outro site, uma seção da mesma página, um arquivo, e-mail ou telefone.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F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O elemento &lt;a&gt;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8"/>
                </a:solidFill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82D"/>
                </a:solidFill>
              </a:defRPr>
            </a:pPr>
            <a:r>
              <a:t>O elemento utilizado para criar links é &lt;a&gt;.</a:t>
            </a:r>
          </a:p>
          <a:p>
            <a:pPr>
              <a:spcAft>
                <a:spcPts val="1200"/>
              </a:spcAft>
              <a:defRPr sz="2100">
                <a:solidFill>
                  <a:srgbClr val="23282D"/>
                </a:solidFill>
              </a:defRPr>
            </a:pPr>
            <a:r>
              <a:t>&lt;a&gt; vem de anchor (âncora).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F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O atributo href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8"/>
                </a:solidFill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82D"/>
                </a:solidFill>
              </a:defRPr>
            </a:pPr>
            <a:r>
              <a:t>O atributo href indica para onde o link deve levar.</a:t>
            </a:r>
          </a:p>
          <a:p>
            <a:pPr>
              <a:spcAft>
                <a:spcPts val="1200"/>
              </a:spcAft>
              <a:defRPr sz="2100">
                <a:solidFill>
                  <a:srgbClr val="23282D"/>
                </a:solidFill>
              </a:defRPr>
            </a:pPr>
            <a:r>
              <a:t>href = destino do hiperlink.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F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Link para um site externo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8"/>
                </a:solidFill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82D"/>
                </a:solidFill>
              </a:defRPr>
            </a:pPr>
            <a:r>
              <a:t>Links podem apontar para qualquer site disponível na Web.</a:t>
            </a:r>
          </a:p>
          <a:p>
            <a:pPr>
              <a:spcAft>
                <a:spcPts val="1200"/>
              </a:spcAft>
              <a:defRPr sz="2100">
                <a:solidFill>
                  <a:srgbClr val="23282D"/>
                </a:solidFill>
              </a:defRPr>
            </a:pPr>
            <a:r>
              <a:t>Exemplo: site do IFSC ou MDN Web Docs.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F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Abrindo o link em uma nova aba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8"/>
                </a:solidFill>
              </a:defRPr>
            </a:pPr>
            <a: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82D"/>
                </a:solidFill>
              </a:defRPr>
            </a:pPr>
            <a:r>
              <a:t>Use target="_blank" quando fizer sentido.</a:t>
            </a:r>
          </a:p>
          <a:p>
            <a:pPr>
              <a:spcAft>
                <a:spcPts val="1200"/>
              </a:spcAft>
              <a:defRPr sz="2100">
                <a:solidFill>
                  <a:srgbClr val="23282D"/>
                </a:solidFill>
              </a:defRPr>
            </a:pPr>
            <a:r>
              <a:t>Boa prática: rel="noopener".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F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Links internos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8"/>
                </a:solidFill>
              </a:defRPr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82D"/>
                </a:solidFill>
              </a:defRPr>
            </a:pPr>
            <a:r>
              <a:t>Um site normalmente possui várias páginas.</a:t>
            </a:r>
          </a:p>
          <a:p>
            <a:pPr>
              <a:spcAft>
                <a:spcPts val="1200"/>
              </a:spcAft>
              <a:defRPr sz="2100">
                <a:solidFill>
                  <a:srgbClr val="23282D"/>
                </a:solidFill>
              </a:defRPr>
            </a:pPr>
            <a:r>
              <a:t>As páginas devem estar conectadas por links.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F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Estrutura de um pequeno 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8"/>
                </a:solidFill>
              </a:defRPr>
            </a:pPr>
            <a: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82D"/>
                </a:solidFill>
              </a:defRPr>
            </a:pPr>
            <a:r>
              <a:t>index.html = página inicial</a:t>
            </a:r>
          </a:p>
          <a:p>
            <a:pPr>
              <a:spcAft>
                <a:spcPts val="1200"/>
              </a:spcAft>
              <a:defRPr sz="2100">
                <a:solidFill>
                  <a:srgbClr val="23282D"/>
                </a:solidFill>
              </a:defRPr>
            </a:pPr>
            <a:r>
              <a:t>sobre.html = informações sobre o site</a:t>
            </a:r>
          </a:p>
          <a:p>
            <a:pPr>
              <a:spcAft>
                <a:spcPts val="1200"/>
              </a:spcAft>
              <a:defRPr sz="2100">
                <a:solidFill>
                  <a:srgbClr val="23282D"/>
                </a:solidFill>
              </a:defRPr>
            </a:pPr>
            <a:r>
              <a:t>servicos.html = serviços</a:t>
            </a:r>
          </a:p>
          <a:p>
            <a:pPr>
              <a:spcAft>
                <a:spcPts val="1200"/>
              </a:spcAft>
              <a:defRPr sz="2100">
                <a:solidFill>
                  <a:srgbClr val="23282D"/>
                </a:solidFill>
              </a:defRPr>
            </a:pPr>
            <a:r>
              <a:t>contato.html = contato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F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Criando um menu de navegação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8"/>
                </a:solidFill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82D"/>
                </a:solidFill>
              </a:defRPr>
            </a:pPr>
            <a:r>
              <a:t>Use &lt;nav&gt; para identificar uma área de navegação.</a:t>
            </a:r>
          </a:p>
          <a:p>
            <a:pPr>
              <a:spcAft>
                <a:spcPts val="1200"/>
              </a:spcAft>
              <a:defRPr sz="2100">
                <a:solidFill>
                  <a:srgbClr val="23282D"/>
                </a:solidFill>
              </a:defRPr>
            </a:pPr>
            <a:r>
              <a:t>Coloque dentro dele os links principais do site.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F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Navegação semântica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8"/>
                </a:solidFill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82D"/>
                </a:solidFill>
              </a:defRPr>
            </a:pPr>
            <a:r>
              <a:t>HTML também descreve o significado das áreas da página.</a:t>
            </a:r>
          </a:p>
          <a:p>
            <a:pPr>
              <a:spcAft>
                <a:spcPts val="1200"/>
              </a:spcAft>
              <a:defRPr sz="2100">
                <a:solidFill>
                  <a:srgbClr val="23282D"/>
                </a:solidFill>
              </a:defRPr>
            </a:pPr>
            <a:r>
              <a:t>&lt;header&gt;, &lt;nav&gt;, &lt;main&gt; e &lt;footer&gt; ajudam a organizar o documento.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F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Links para seções da página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8"/>
                </a:solidFill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82D"/>
                </a:solidFill>
              </a:defRPr>
            </a:pPr>
            <a:r>
              <a:t>Use href="#id" para ir até um elemento que possui aquele id.</a:t>
            </a:r>
          </a:p>
          <a:p>
            <a:pPr>
              <a:spcAft>
                <a:spcPts val="1200"/>
              </a:spcAft>
              <a:defRPr sz="2100">
                <a:solidFill>
                  <a:srgbClr val="23282D"/>
                </a:solidFill>
              </a:defRPr>
            </a:pPr>
            <a:r>
              <a:t>Isso permite criar menus internos e atalhos.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F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Links para e-mail e telefone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8"/>
                </a:solidFill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82D"/>
                </a:solidFill>
              </a:defRPr>
            </a:pPr>
            <a:r>
              <a:t>mailto: abre o aplicativo de e-mail configurado.</a:t>
            </a:r>
          </a:p>
          <a:p>
            <a:pPr>
              <a:spcAft>
                <a:spcPts val="1200"/>
              </a:spcAft>
              <a:defRPr sz="2100">
                <a:solidFill>
                  <a:srgbClr val="23282D"/>
                </a:solidFill>
              </a:defRPr>
            </a:pPr>
            <a:r>
              <a:t>tel: permite iniciar uma chamada em dispositivos compatíveis.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F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Links para arquivos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8"/>
                </a:solidFill>
              </a:defRPr>
            </a:pPr>
            <a: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82D"/>
                </a:solidFill>
              </a:defRPr>
            </a:pPr>
            <a:r>
              <a:t>Um link também pode apontar para PDF, documentos ou outros arquivos.</a:t>
            </a:r>
          </a:p>
          <a:p>
            <a:pPr>
              <a:spcAft>
                <a:spcPts val="1200"/>
              </a:spcAft>
              <a:defRPr sz="2100">
                <a:solidFill>
                  <a:srgbClr val="23282D"/>
                </a:solidFill>
              </a:defRPr>
            </a:pPr>
            <a:r>
              <a:t>Exemplo: Baixar documento.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F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O que é navegação?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8"/>
                </a:solidFill>
              </a:defRPr>
            </a:pPr>
            <a: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82D"/>
                </a:solidFill>
              </a:defRPr>
            </a:pPr>
            <a:r>
              <a:t>Navegação é o conjunto de mecanismos que permite ao usuário se deslocar pelo site.</a:t>
            </a:r>
          </a:p>
          <a:p>
            <a:pPr>
              <a:spcAft>
                <a:spcPts val="1200"/>
              </a:spcAft>
              <a:defRPr sz="2100">
                <a:solidFill>
                  <a:srgbClr val="23282D"/>
                </a:solidFill>
              </a:defRPr>
            </a:pPr>
            <a:r>
              <a:t>Uma boa navegação é clara, consistente e fácil de usar.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F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Navegação de um 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8"/>
                </a:solidFill>
              </a:defRPr>
            </a:pPr>
            <a: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82D"/>
                </a:solidFill>
              </a:defRPr>
            </a:pPr>
            <a:r>
              <a:t>Onde estou?</a:t>
            </a:r>
          </a:p>
          <a:p>
            <a:pPr>
              <a:spcAft>
                <a:spcPts val="1200"/>
              </a:spcAft>
              <a:defRPr sz="2100">
                <a:solidFill>
                  <a:srgbClr val="23282D"/>
                </a:solidFill>
              </a:defRPr>
            </a:pPr>
            <a:r>
              <a:t>Onde posso ir?</a:t>
            </a:r>
          </a:p>
          <a:p>
            <a:pPr>
              <a:spcAft>
                <a:spcPts val="1200"/>
              </a:spcAft>
              <a:defRPr sz="2100">
                <a:solidFill>
                  <a:srgbClr val="23282D"/>
                </a:solidFill>
              </a:defRPr>
            </a:pPr>
            <a:r>
              <a:t>Como volto?</a:t>
            </a:r>
          </a:p>
          <a:p>
            <a:pPr>
              <a:spcAft>
                <a:spcPts val="1200"/>
              </a:spcAft>
              <a:defRPr sz="2100">
                <a:solidFill>
                  <a:srgbClr val="23282D"/>
                </a:solidFill>
              </a:defRPr>
            </a:pPr>
            <a:r>
              <a:t>O usuário deve conseguir responder essas perguntas com facilidade.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F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Boas práticas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8"/>
                </a:solidFill>
              </a:defRPr>
            </a:pPr>
            <a: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82D"/>
                </a:solidFill>
              </a:defRPr>
            </a:pPr>
            <a:r>
              <a:t>Use textos de link claros e descritivos.</a:t>
            </a:r>
          </a:p>
          <a:p>
            <a:pPr>
              <a:spcAft>
                <a:spcPts val="1200"/>
              </a:spcAft>
              <a:defRPr sz="2100">
                <a:solidFill>
                  <a:srgbClr val="23282D"/>
                </a:solidFill>
              </a:defRPr>
            </a:pPr>
            <a:r>
              <a:t>Use &lt;nav&gt; para áreas de navegação.</a:t>
            </a:r>
          </a:p>
          <a:p>
            <a:pPr>
              <a:spcAft>
                <a:spcPts val="1200"/>
              </a:spcAft>
              <a:defRPr sz="2100">
                <a:solidFill>
                  <a:srgbClr val="23282D"/>
                </a:solidFill>
              </a:defRPr>
            </a:pPr>
            <a:r>
              <a:t>Organize arquivos e pastas de forma consistente.</a:t>
            </a:r>
          </a:p>
          <a:p>
            <a:pPr>
              <a:spcAft>
                <a:spcPts val="1200"/>
              </a:spcAft>
              <a:defRPr sz="2100">
                <a:solidFill>
                  <a:srgbClr val="23282D"/>
                </a:solidFill>
              </a:defRPr>
            </a:pPr>
            <a:r>
              <a:t>Teste todos os caminhos.</a:t>
            </a:r>
          </a:p>
          <a:p>
            <a:pPr>
              <a:spcAft>
                <a:spcPts val="1200"/>
              </a:spcAft>
              <a:defRPr sz="2100">
                <a:solidFill>
                  <a:srgbClr val="23282D"/>
                </a:solidFill>
              </a:defRPr>
            </a:pPr>
            <a:r>
              <a:t>Evite links quebrados.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F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Erros comuns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8"/>
                </a:solidFill>
              </a:defRPr>
            </a:pPr>
            <a: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82D"/>
                </a:solidFill>
              </a:defRPr>
            </a:pPr>
            <a:r>
              <a:t>Esquecer href.</a:t>
            </a:r>
          </a:p>
          <a:p>
            <a:pPr>
              <a:spcAft>
                <a:spcPts val="1200"/>
              </a:spcAft>
              <a:defRPr sz="2100">
                <a:solidFill>
                  <a:srgbClr val="23282D"/>
                </a:solidFill>
              </a:defRPr>
            </a:pPr>
            <a:r>
              <a:t>Usar caminho incorreto.</a:t>
            </a:r>
          </a:p>
          <a:p>
            <a:pPr>
              <a:spcAft>
                <a:spcPts val="1200"/>
              </a:spcAft>
              <a:defRPr sz="2100">
                <a:solidFill>
                  <a:srgbClr val="23282D"/>
                </a:solidFill>
              </a:defRPr>
            </a:pPr>
            <a:r>
              <a:t>Usar id diferente do destino.</a:t>
            </a:r>
          </a:p>
          <a:p>
            <a:pPr>
              <a:spcAft>
                <a:spcPts val="1200"/>
              </a:spcAft>
              <a:defRPr sz="2100">
                <a:solidFill>
                  <a:srgbClr val="23282D"/>
                </a:solidFill>
              </a:defRPr>
            </a:pPr>
            <a:r>
              <a:t>Usar textos vagos como “clique aqui”.</a:t>
            </a:r>
          </a:p>
          <a:p>
            <a:pPr>
              <a:spcAft>
                <a:spcPts val="1200"/>
              </a:spcAft>
              <a:defRPr sz="2100">
                <a:solidFill>
                  <a:srgbClr val="23282D"/>
                </a:solidFill>
              </a:defRPr>
            </a:pPr>
            <a:r>
              <a:t>Não testar a navegação.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F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Revisão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8"/>
                </a:solidFill>
              </a:defRPr>
            </a:pPr>
            <a: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82D"/>
                </a:solidFill>
              </a:defRPr>
            </a:pPr>
            <a:r>
              <a:t>&lt;a&gt; → cria o hiperlink.</a:t>
            </a:r>
          </a:p>
          <a:p>
            <a:pPr>
              <a:spcAft>
                <a:spcPts val="1200"/>
              </a:spcAft>
              <a:defRPr sz="2100">
                <a:solidFill>
                  <a:srgbClr val="23282D"/>
                </a:solidFill>
              </a:defRPr>
            </a:pPr>
            <a:r>
              <a:t>href → define o destino.</a:t>
            </a:r>
          </a:p>
          <a:p>
            <a:pPr>
              <a:spcAft>
                <a:spcPts val="1200"/>
              </a:spcAft>
              <a:defRPr sz="2100">
                <a:solidFill>
                  <a:srgbClr val="23282D"/>
                </a:solidFill>
              </a:defRPr>
            </a:pPr>
            <a:r>
              <a:t>target="_blank" → abre em nova aba.</a:t>
            </a:r>
          </a:p>
          <a:p>
            <a:pPr>
              <a:spcAft>
                <a:spcPts val="1200"/>
              </a:spcAft>
              <a:defRPr sz="2100">
                <a:solidFill>
                  <a:srgbClr val="23282D"/>
                </a:solidFill>
              </a:defRPr>
            </a:pPr>
            <a:r>
              <a:t>&lt;nav&gt; → identifica uma área de navegação.</a:t>
            </a:r>
          </a:p>
          <a:p>
            <a:pPr>
              <a:spcAft>
                <a:spcPts val="1200"/>
              </a:spcAft>
              <a:defRPr sz="2100">
                <a:solidFill>
                  <a:srgbClr val="23282D"/>
                </a:solidFill>
              </a:defRPr>
            </a:pPr>
            <a:r>
              <a:t>id + #id → navegação para uma seção.</a:t>
            </a:r>
          </a:p>
          <a:p>
            <a:pPr>
              <a:spcAft>
                <a:spcPts val="1200"/>
              </a:spcAft>
              <a:defRPr sz="2100">
                <a:solidFill>
                  <a:srgbClr val="23282D"/>
                </a:solidFill>
              </a:defRPr>
            </a:pPr>
            <a:r>
              <a:t>mailto: e tel: → links de contato.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F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Desafio: crie seu próprio 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8"/>
                </a:solidFill>
              </a:defRPr>
            </a:pPr>
            <a: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82D"/>
                </a:solidFill>
              </a:defRPr>
            </a:pPr>
            <a:r>
              <a:t>Escolha um tema: restaurante, oficina, loja, portfólio ou empresa.</a:t>
            </a:r>
          </a:p>
          <a:p>
            <a:pPr>
              <a:spcAft>
                <a:spcPts val="1200"/>
              </a:spcAft>
              <a:defRPr sz="2100">
                <a:solidFill>
                  <a:srgbClr val="23282D"/>
                </a:solidFill>
              </a:defRPr>
            </a:pPr>
            <a:r>
              <a:t>Crie 4 páginas conectadas.</a:t>
            </a:r>
          </a:p>
          <a:p>
            <a:pPr>
              <a:spcAft>
                <a:spcPts val="1200"/>
              </a:spcAft>
              <a:defRPr sz="2100">
                <a:solidFill>
                  <a:srgbClr val="23282D"/>
                </a:solidFill>
              </a:defRPr>
            </a:pPr>
            <a:r>
              <a:t>Inclua menu, link externo e link para uma seção.</a:t>
            </a:r>
          </a:p>
          <a:p>
            <a:pPr>
              <a:spcAft>
                <a:spcPts val="1200"/>
              </a:spcAft>
              <a:defRPr sz="2100">
                <a:solidFill>
                  <a:srgbClr val="23282D"/>
                </a:solidFill>
              </a:defRPr>
            </a:pPr>
            <a:r>
              <a:t>Adicione e-mail ou telefone.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F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Atividade 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8"/>
                </a:solidFill>
              </a:defRPr>
            </a:pPr>
            <a: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82D"/>
                </a:solidFill>
              </a:defRPr>
            </a:pPr>
            <a:r>
              <a:t>☐ Menu de navegação</a:t>
            </a:r>
          </a:p>
          <a:p>
            <a:pPr>
              <a:spcAft>
                <a:spcPts val="1200"/>
              </a:spcAft>
              <a:defRPr sz="2100">
                <a:solidFill>
                  <a:srgbClr val="23282D"/>
                </a:solidFill>
              </a:defRPr>
            </a:pPr>
            <a:r>
              <a:t>☐ Links internos</a:t>
            </a:r>
          </a:p>
          <a:p>
            <a:pPr>
              <a:spcAft>
                <a:spcPts val="1200"/>
              </a:spcAft>
              <a:defRPr sz="2100">
                <a:solidFill>
                  <a:srgbClr val="23282D"/>
                </a:solidFill>
              </a:defRPr>
            </a:pPr>
            <a:r>
              <a:t>☐ Link externo</a:t>
            </a:r>
          </a:p>
          <a:p>
            <a:pPr>
              <a:spcAft>
                <a:spcPts val="1200"/>
              </a:spcAft>
              <a:defRPr sz="2100">
                <a:solidFill>
                  <a:srgbClr val="23282D"/>
                </a:solidFill>
              </a:defRPr>
            </a:pPr>
            <a:r>
              <a:t>☐ Link para seção</a:t>
            </a:r>
          </a:p>
          <a:p>
            <a:pPr>
              <a:spcAft>
                <a:spcPts val="1200"/>
              </a:spcAft>
              <a:defRPr sz="2100">
                <a:solidFill>
                  <a:srgbClr val="23282D"/>
                </a:solidFill>
              </a:defRPr>
            </a:pPr>
            <a:r>
              <a:t>☐ E-mail ou telefone</a:t>
            </a:r>
          </a:p>
          <a:p>
            <a:pPr>
              <a:spcAft>
                <a:spcPts val="1200"/>
              </a:spcAft>
              <a:defRPr sz="2100">
                <a:solidFill>
                  <a:srgbClr val="23282D"/>
                </a:solidFill>
              </a:defRPr>
            </a:pPr>
            <a:r>
              <a:t>☐ Header, main e footer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F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Para pensar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8"/>
                </a:solidFill>
              </a:defRPr>
            </a:pPr>
            <a: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82D"/>
                </a:solidFill>
              </a:defRPr>
            </a:pPr>
            <a:r>
              <a:t>Um bom site não apenas apresenta informações.</a:t>
            </a:r>
          </a:p>
          <a:p>
            <a:pPr>
              <a:spcAft>
                <a:spcPts val="1200"/>
              </a:spcAft>
              <a:defRPr sz="2100">
                <a:solidFill>
                  <a:srgbClr val="23282D"/>
                </a:solidFill>
              </a:defRPr>
            </a:pPr>
            <a:r>
              <a:t>Ele permite que o usuário encontre facilmente o que procura.</a:t>
            </a:r>
          </a:p>
          <a:p>
            <a:pPr>
              <a:spcAft>
                <a:spcPts val="1200"/>
              </a:spcAft>
              <a:defRPr sz="2100">
                <a:solidFill>
                  <a:srgbClr val="23282D"/>
                </a:solidFill>
              </a:defRPr>
            </a:pPr>
            <a:r>
              <a:t>HTML organiza a estrutura e a navegação; CSS cuidará da aparência.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F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Estrutura básica do link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8"/>
                </a:solidFill>
              </a:defRPr>
            </a:pPr>
            <a:r>
              <a:t>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698480" cy="4892040"/>
          </a:xfrm>
          <a:prstGeom prst="roundRect">
            <a:avLst/>
          </a:prstGeom>
          <a:solidFill>
            <a:srgbClr val="1C2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10241280" cy="4434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EBF0F5"/>
                </a:solidFill>
                <a:latin typeface="DejaVu Sans Mono"/>
              </a:defRPr>
            </a:pPr>
            <a:r>
              <a:t>&lt;a href="destino"&gt;</a:t>
            </a:r>
            <a:br/>
            <a:r>
              <a:t>    Texto do link</a:t>
            </a:r>
            <a:br/>
            <a:r>
              <a:t>&lt;/a&gt;</a:t>
            </a:r>
            <a:br/>
            <a:br/>
            <a:r>
              <a:t>&lt;a href="sobre.html"&gt;</a:t>
            </a:r>
            <a:br/>
            <a:r>
              <a:t>    Sobre nós</a:t>
            </a:r>
            <a:br/>
            <a:r>
              <a:t>&lt;/a&gt;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F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Link externo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8"/>
                </a:solidFill>
              </a:defRPr>
            </a:pPr>
            <a:r>
              <a:t>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698480" cy="4892040"/>
          </a:xfrm>
          <a:prstGeom prst="roundRect">
            <a:avLst/>
          </a:prstGeom>
          <a:solidFill>
            <a:srgbClr val="1C2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10241280" cy="4434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EBF0F5"/>
                </a:solidFill>
                <a:latin typeface="DejaVu Sans Mono"/>
              </a:defRPr>
            </a:pPr>
            <a:r>
              <a:t>&lt;a href="https://www.ifsc.edu.br"&gt;</a:t>
            </a:r>
            <a:br/>
            <a:r>
              <a:t>    Site do IFSC</a:t>
            </a:r>
            <a:br/>
            <a:r>
              <a:t>&lt;/a&gt;</a:t>
            </a:r>
            <a:br/>
            <a:br/>
            <a:r>
              <a:t>&lt;a href="https://developer.mozilla.org/"&gt;</a:t>
            </a:r>
            <a:br/>
            <a:r>
              <a:t>    MDN Web Docs</a:t>
            </a:r>
            <a:br/>
            <a:r>
              <a:t>&lt;/a&gt;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F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Nova aba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8"/>
                </a:solidFill>
              </a:defRPr>
            </a:pPr>
            <a:r>
              <a:t>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698480" cy="4892040"/>
          </a:xfrm>
          <a:prstGeom prst="roundRect">
            <a:avLst/>
          </a:prstGeom>
          <a:solidFill>
            <a:srgbClr val="1C2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10241280" cy="4434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EBF0F5"/>
                </a:solidFill>
                <a:latin typeface="DejaVu Sans Mono"/>
              </a:defRPr>
            </a:pPr>
            <a:r>
              <a:t>&lt;a</a:t>
            </a:r>
            <a:br/>
            <a:r>
              <a:t>    href="https://www.ifsc.edu.br"</a:t>
            </a:r>
            <a:br/>
            <a:r>
              <a:t>    target="_blank"</a:t>
            </a:r>
            <a:br/>
            <a:r>
              <a:t>    rel="noopener"</a:t>
            </a:r>
            <a:br/>
            <a:r>
              <a:t>&gt;</a:t>
            </a:r>
            <a:br/>
            <a:r>
              <a:t>    Site do IFSC</a:t>
            </a:r>
            <a:br/>
            <a:r>
              <a:t>&lt;/a&gt;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F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Links entre páginas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8"/>
                </a:solidFill>
              </a:defRPr>
            </a:pPr>
            <a:r>
              <a:t>27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698480" cy="4892040"/>
          </a:xfrm>
          <a:prstGeom prst="roundRect">
            <a:avLst/>
          </a:prstGeom>
          <a:solidFill>
            <a:srgbClr val="1C2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10241280" cy="4434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EBF0F5"/>
                </a:solidFill>
                <a:latin typeface="DejaVu Sans Mono"/>
              </a:defRPr>
            </a:pPr>
            <a:r>
              <a:t>site/</a:t>
            </a:r>
            <a:br/>
            <a:r>
              <a:t>├── index.html</a:t>
            </a:r>
            <a:br/>
            <a:r>
              <a:t>├── sobre.html</a:t>
            </a:r>
            <a:br/>
            <a:r>
              <a:t>├── servicos.html</a:t>
            </a:r>
            <a:br/>
            <a:r>
              <a:t>└── contato.html</a:t>
            </a:r>
            <a:br/>
            <a:br/>
            <a:r>
              <a:t>&lt;a href="sobre.html"&gt;Sobre&lt;/a&gt;</a:t>
            </a:r>
            <a:br/>
            <a:r>
              <a:t>&lt;a href="servicos.html"&gt;Serviços&lt;/a&gt;</a:t>
            </a:r>
            <a:br/>
            <a:r>
              <a:t>&lt;a href="contato.html"&gt;Contato&lt;/a&gt;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F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Menu com &lt;nav&gt;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8"/>
                </a:solidFill>
              </a:defRPr>
            </a:pPr>
            <a:r>
              <a:t>28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698480" cy="4892040"/>
          </a:xfrm>
          <a:prstGeom prst="roundRect">
            <a:avLst/>
          </a:prstGeom>
          <a:solidFill>
            <a:srgbClr val="1C2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10241280" cy="4434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EBF0F5"/>
                </a:solidFill>
                <a:latin typeface="DejaVu Sans Mono"/>
              </a:defRPr>
            </a:pPr>
            <a:r>
              <a:t>&lt;nav&gt;</a:t>
            </a:r>
            <a:br/>
            <a:r>
              <a:t>    &lt;a href="index.html"&gt;Início&lt;/a&gt;</a:t>
            </a:r>
            <a:br/>
            <a:r>
              <a:t>    &lt;a href="sobre.html"&gt;Sobre&lt;/a&gt;</a:t>
            </a:r>
            <a:br/>
            <a:r>
              <a:t>    &lt;a href="servicos.html"&gt;Serviços&lt;/a&gt;</a:t>
            </a:r>
            <a:br/>
            <a:r>
              <a:t>    &lt;a href="contato.html"&gt;Contato&lt;/a&gt;</a:t>
            </a:r>
            <a:br/>
            <a:r>
              <a:t>&lt;/nav&gt;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F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Caminhos relativos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8"/>
                </a:solidFill>
              </a:defRPr>
            </a:pPr>
            <a:r>
              <a:t>29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698480" cy="4892040"/>
          </a:xfrm>
          <a:prstGeom prst="roundRect">
            <a:avLst/>
          </a:prstGeom>
          <a:solidFill>
            <a:srgbClr val="1C2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10241280" cy="4434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EBF0F5"/>
                </a:solidFill>
                <a:latin typeface="DejaVu Sans Mono"/>
              </a:defRPr>
            </a:pPr>
            <a:r>
              <a:t>site/</a:t>
            </a:r>
            <a:br/>
            <a:r>
              <a:t>├── index.html</a:t>
            </a:r>
            <a:br/>
            <a:r>
              <a:t>└── paginas/</a:t>
            </a:r>
            <a:br/>
            <a:r>
              <a:t>    └── sobre.html</a:t>
            </a:r>
            <a:br/>
            <a:br/>
            <a:r>
              <a:t>&lt;a href="paginas/sobre.html"&gt;</a:t>
            </a:r>
            <a:br/>
            <a:r>
              <a:t>    Sobre</a:t>
            </a:r>
            <a:br/>
            <a:r>
              <a:t>&lt;/a&gt;</a:t>
            </a:r>
            <a:br/>
            <a:br/>
            <a:r>
              <a:t>&lt;!-- voltar uma pasta --&gt;</a:t>
            </a:r>
            <a:br/>
            <a:r>
              <a:t>&lt;a href="../index.html"&gt;</a:t>
            </a:r>
            <a:br/>
            <a:r>
              <a:t>    Início</a:t>
            </a:r>
            <a:br/>
            <a:r>
              <a:t>&lt;/a&gt;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F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Navegação interna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8"/>
                </a:solidFill>
              </a:defRPr>
            </a:pPr>
            <a:r>
              <a:t>30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698480" cy="4892040"/>
          </a:xfrm>
          <a:prstGeom prst="roundRect">
            <a:avLst/>
          </a:prstGeom>
          <a:solidFill>
            <a:srgbClr val="1C2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10241280" cy="4434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EBF0F5"/>
                </a:solidFill>
                <a:latin typeface="DejaVu Sans Mono"/>
              </a:defRPr>
            </a:pPr>
            <a:r>
              <a:t>&lt;nav&gt;</a:t>
            </a:r>
            <a:br/>
            <a:r>
              <a:t>    &lt;a href="#sobre"&gt;Sobre&lt;/a&gt;</a:t>
            </a:r>
            <a:br/>
            <a:r>
              <a:t>    &lt;a href="#servicos"&gt;Serviços&lt;/a&gt;</a:t>
            </a:r>
            <a:br/>
            <a:r>
              <a:t>    &lt;a href="#contato"&gt;Contato&lt;/a&gt;</a:t>
            </a:r>
            <a:br/>
            <a:r>
              <a:t>&lt;/nav&gt;</a:t>
            </a:r>
            <a:br/>
            <a:br/>
            <a:r>
              <a:t>&lt;h2 id="sobre"&gt;Sobre&lt;/h2&gt;</a:t>
            </a:r>
            <a:br/>
            <a:r>
              <a:t>&lt;h2 id="servicos"&gt;Serviços&lt;/h2&gt;</a:t>
            </a:r>
            <a:br/>
            <a:r>
              <a:t>&lt;h2 id="contato"&gt;Contato&lt;/h2&gt;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F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E-mail e telefone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8"/>
                </a:solidFill>
              </a:defRPr>
            </a:pPr>
            <a:r>
              <a:t>31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698480" cy="4892040"/>
          </a:xfrm>
          <a:prstGeom prst="roundRect">
            <a:avLst/>
          </a:prstGeom>
          <a:solidFill>
            <a:srgbClr val="1C2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10241280" cy="4434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EBF0F5"/>
                </a:solidFill>
                <a:latin typeface="DejaVu Sans Mono"/>
              </a:defRPr>
            </a:pPr>
            <a:r>
              <a:t>&lt;a href="mailto:contato@exemplo.com"&gt;</a:t>
            </a:r>
            <a:br/>
            <a:r>
              <a:t>    Enviar e-mail</a:t>
            </a:r>
            <a:br/>
            <a:r>
              <a:t>&lt;/a&gt;</a:t>
            </a:r>
            <a:br/>
            <a:br/>
            <a:r>
              <a:t>&lt;a href="tel:+5548999999999"&gt;</a:t>
            </a:r>
            <a:br/>
            <a:r>
              <a:t>    Ligue para nós</a:t>
            </a:r>
            <a:br/>
            <a:r>
              <a:t>&lt;/a&gt;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F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Link para arquivo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8"/>
                </a:solidFill>
              </a:defRPr>
            </a:pPr>
            <a:r>
              <a:t>32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698480" cy="4892040"/>
          </a:xfrm>
          <a:prstGeom prst="roundRect">
            <a:avLst/>
          </a:prstGeom>
          <a:solidFill>
            <a:srgbClr val="1C2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10241280" cy="4434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EBF0F5"/>
                </a:solidFill>
                <a:latin typeface="DejaVu Sans Mono"/>
              </a:defRPr>
            </a:pPr>
            <a:r>
              <a:t>&lt;a href="documento.pdf"&gt;</a:t>
            </a:r>
            <a:br/>
            <a:r>
              <a:t>    Baixar documento</a:t>
            </a:r>
            <a:br/>
            <a:r>
              <a:t>&lt;/a&gt;</a:t>
            </a:r>
            <a:br/>
            <a:br/>
            <a:r>
              <a:t>site/</a:t>
            </a:r>
            <a:br/>
            <a:r>
              <a:t>├── index.html</a:t>
            </a:r>
            <a:br/>
            <a:r>
              <a:t>└── documento.pdf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F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Imagem como link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8"/>
                </a:solidFill>
              </a:defRPr>
            </a:pPr>
            <a:r>
              <a:t>33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698480" cy="4892040"/>
          </a:xfrm>
          <a:prstGeom prst="roundRect">
            <a:avLst/>
          </a:prstGeom>
          <a:solidFill>
            <a:srgbClr val="1C2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10241280" cy="4434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EBF0F5"/>
                </a:solidFill>
                <a:latin typeface="DejaVu Sans Mono"/>
              </a:defRPr>
            </a:pPr>
            <a:r>
              <a:t>&lt;a href="index.html"&gt;</a:t>
            </a:r>
            <a:br/>
            <a:r>
              <a:t>    &lt;img</a:t>
            </a:r>
            <a:br/>
            <a:r>
              <a:t>        src="logo.png"</a:t>
            </a:r>
            <a:br/>
            <a:r>
              <a:t>        alt="Página inicial"</a:t>
            </a:r>
            <a:br/>
            <a:r>
              <a:t>    &gt;</a:t>
            </a:r>
            <a:br/>
            <a:r>
              <a:t>&lt;/a&gt;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F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Navegação completa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8"/>
                </a:solidFill>
              </a:defRPr>
            </a:pPr>
            <a:r>
              <a:t>34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698480" cy="4892040"/>
          </a:xfrm>
          <a:prstGeom prst="roundRect">
            <a:avLst/>
          </a:prstGeom>
          <a:solidFill>
            <a:srgbClr val="1C2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10241280" cy="4434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EBF0F5"/>
                </a:solidFill>
                <a:latin typeface="DejaVu Sans Mono"/>
              </a:defRPr>
            </a:pPr>
            <a:r>
              <a:t>&lt;header&gt;</a:t>
            </a:r>
            <a:br/>
            <a:r>
              <a:t>    &lt;h1&gt;Minha empresa&lt;/h1&gt;</a:t>
            </a:r>
            <a:br/>
            <a:br/>
            <a:r>
              <a:t>    &lt;nav&gt;</a:t>
            </a:r>
            <a:br/>
            <a:r>
              <a:t>        &lt;a href="index.html"&gt;Início&lt;/a&gt;</a:t>
            </a:r>
            <a:br/>
            <a:r>
              <a:t>        &lt;a href="sobre.html"&gt;Sobre&lt;/a&gt;</a:t>
            </a:r>
            <a:br/>
            <a:r>
              <a:t>        &lt;a href="contato.html"&gt;Contato&lt;/a&gt;</a:t>
            </a:r>
            <a:br/>
            <a:r>
              <a:t>    &lt;/nav&gt;</a:t>
            </a:r>
            <a:br/>
            <a:r>
              <a:t>&lt;/header&gt;</a:t>
            </a:r>
            <a:br/>
            <a:br/>
            <a:r>
              <a:t>&lt;main&gt;</a:t>
            </a:r>
            <a:br/>
            <a:r>
              <a:t>    &lt;h2&gt;Bem-vindo!&lt;/h2&gt;</a:t>
            </a:r>
            <a:br/>
            <a:r>
              <a:t>&lt;/main&gt;</a:t>
            </a:r>
            <a:br/>
            <a:br/>
            <a:r>
              <a:t>&lt;footer&gt;</a:t>
            </a:r>
            <a:br/>
            <a:r>
              <a:t>    &lt;a href="contato.html"&gt;Contato&lt;/a&gt;</a:t>
            </a:r>
            <a:br/>
            <a:r>
              <a:t>&lt;/footer&gt;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F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Exercício — estrutura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8"/>
                </a:solidFill>
              </a:defRPr>
            </a:pPr>
            <a:r>
              <a:t>35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698480" cy="4892040"/>
          </a:xfrm>
          <a:prstGeom prst="roundRect">
            <a:avLst/>
          </a:prstGeom>
          <a:solidFill>
            <a:srgbClr val="1C2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10241280" cy="4434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EBF0F5"/>
                </a:solidFill>
                <a:latin typeface="DejaVu Sans Mono"/>
              </a:defRPr>
            </a:pPr>
            <a:r>
              <a:t>meu-site/</a:t>
            </a:r>
            <a:br/>
            <a:r>
              <a:t>│</a:t>
            </a:r>
            <a:br/>
            <a:r>
              <a:t>├── index.html</a:t>
            </a:r>
            <a:br/>
            <a:r>
              <a:t>├── sobre.html</a:t>
            </a:r>
            <a:br/>
            <a:r>
              <a:t>├── servicos.html</a:t>
            </a:r>
            <a:br/>
            <a:r>
              <a:t>└── contato.html</a:t>
            </a:r>
            <a:br/>
            <a:br/>
            <a:r>
              <a:t>Todas as páginas devem possuir:</a:t>
            </a:r>
            <a:br/>
            <a:br/>
            <a:r>
              <a:t>Início | Sobre | Serviços | Contato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F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Exercício — index.html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8"/>
                </a:solidFill>
              </a:defRPr>
            </a:pPr>
            <a:r>
              <a:t>36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698480" cy="4892040"/>
          </a:xfrm>
          <a:prstGeom prst="roundRect">
            <a:avLst/>
          </a:prstGeom>
          <a:solidFill>
            <a:srgbClr val="1C2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10241280" cy="4434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EBF0F5"/>
                </a:solidFill>
                <a:latin typeface="DejaVu Sans Mono"/>
              </a:defRPr>
            </a:pPr>
            <a:r>
              <a:t>&lt;h1&gt;Minha empresa&lt;/h1&gt;</a:t>
            </a:r>
            <a:br/>
            <a:br/>
            <a:r>
              <a:t>&lt;nav&gt;</a:t>
            </a:r>
            <a:br/>
            <a:r>
              <a:t>    &lt;a href="index.html"&gt;Início&lt;/a&gt;</a:t>
            </a:r>
            <a:br/>
            <a:r>
              <a:t>    &lt;a href="sobre.html"&gt;Sobre&lt;/a&gt;</a:t>
            </a:r>
            <a:br/>
            <a:r>
              <a:t>    &lt;a href="servicos.html"&gt;Serviços&lt;/a&gt;</a:t>
            </a:r>
            <a:br/>
            <a:r>
              <a:t>    &lt;a href="contato.html"&gt;Contato&lt;/a&gt;</a:t>
            </a:r>
            <a:br/>
            <a:r>
              <a:t>&lt;/nav&gt;</a:t>
            </a:r>
            <a:br/>
            <a:br/>
            <a:r>
              <a:t>&lt;h2&gt;Bem-vindo!&lt;/h2&gt;</a:t>
            </a:r>
            <a:br/>
            <a:r>
              <a:t>&lt;p&gt;Conheça nossa empresa.&lt;/p&gt;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F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Exercício — sobre.html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8"/>
                </a:solidFill>
              </a:defRPr>
            </a:pPr>
            <a:r>
              <a:t>37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698480" cy="4892040"/>
          </a:xfrm>
          <a:prstGeom prst="roundRect">
            <a:avLst/>
          </a:prstGeom>
          <a:solidFill>
            <a:srgbClr val="1C2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10241280" cy="4434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EBF0F5"/>
                </a:solidFill>
                <a:latin typeface="DejaVu Sans Mono"/>
              </a:defRPr>
            </a:pPr>
            <a:r>
              <a:t>&lt;h1&gt;Sobre nós&lt;/h1&gt;</a:t>
            </a:r>
            <a:br/>
            <a:br/>
            <a:r>
              <a:t>&lt;nav&gt;</a:t>
            </a:r>
            <a:br/>
            <a:r>
              <a:t>    &lt;a href="index.html"&gt;Início&lt;/a&gt;</a:t>
            </a:r>
            <a:br/>
            <a:r>
              <a:t>    &lt;a href="sobre.html"&gt;Sobre&lt;/a&gt;</a:t>
            </a:r>
            <a:br/>
            <a:r>
              <a:t>    &lt;a href="servicos.html"&gt;Serviços&lt;/a&gt;</a:t>
            </a:r>
            <a:br/>
            <a:r>
              <a:t>    &lt;a href="contato.html"&gt;Contato&lt;/a&gt;</a:t>
            </a:r>
            <a:br/>
            <a:r>
              <a:t>&lt;/nav&gt;</a:t>
            </a:r>
            <a:br/>
            <a:br/>
            <a:r>
              <a:t>&lt;h2&gt;Nossa história&lt;/h2&gt;</a:t>
            </a:r>
            <a:br/>
            <a:r>
              <a:t>&lt;p&gt;Escreva sobre a empresa.&lt;/p&gt;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F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Exercício — servicos.html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8"/>
                </a:solidFill>
              </a:defRPr>
            </a:pPr>
            <a:r>
              <a:t>38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698480" cy="4892040"/>
          </a:xfrm>
          <a:prstGeom prst="roundRect">
            <a:avLst/>
          </a:prstGeom>
          <a:solidFill>
            <a:srgbClr val="1C2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10241280" cy="4434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EBF0F5"/>
                </a:solidFill>
                <a:latin typeface="DejaVu Sans Mono"/>
              </a:defRPr>
            </a:pPr>
            <a:r>
              <a:t>&lt;h1&gt;Nossos serviços&lt;/h1&gt;</a:t>
            </a:r>
            <a:br/>
            <a:br/>
            <a:r>
              <a:t>&lt;nav&gt;</a:t>
            </a:r>
            <a:br/>
            <a:r>
              <a:t>    &lt;a href="index.html"&gt;Início&lt;/a&gt;</a:t>
            </a:r>
            <a:br/>
            <a:r>
              <a:t>    &lt;a href="sobre.html"&gt;Sobre&lt;/a&gt;</a:t>
            </a:r>
            <a:br/>
            <a:r>
              <a:t>    &lt;a href="servicos.html"&gt;Serviços&lt;/a&gt;</a:t>
            </a:r>
            <a:br/>
            <a:r>
              <a:t>    &lt;a href="contato.html"&gt;Contato&lt;/a&gt;</a:t>
            </a:r>
            <a:br/>
            <a:r>
              <a:t>&lt;/nav&gt;</a:t>
            </a:r>
            <a:br/>
            <a:br/>
            <a:r>
              <a:t>&lt;ul&gt;</a:t>
            </a:r>
            <a:br/>
            <a:r>
              <a:t>    &lt;li&gt;Serviço 1&lt;/li&gt;</a:t>
            </a:r>
            <a:br/>
            <a:r>
              <a:t>    &lt;li&gt;Serviço 2&lt;/li&gt;</a:t>
            </a:r>
            <a:br/>
            <a:r>
              <a:t>    &lt;li&gt;Serviço 3&lt;/li&gt;</a:t>
            </a:r>
            <a:br/>
            <a:r>
              <a:t>&lt;/ul&gt;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F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Exercício — contato.html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8"/>
                </a:solidFill>
              </a:defRPr>
            </a:pPr>
            <a:r>
              <a:t>39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698480" cy="4892040"/>
          </a:xfrm>
          <a:prstGeom prst="roundRect">
            <a:avLst/>
          </a:prstGeom>
          <a:solidFill>
            <a:srgbClr val="1C2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10241280" cy="4434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EBF0F5"/>
                </a:solidFill>
                <a:latin typeface="DejaVu Sans Mono"/>
              </a:defRPr>
            </a:pPr>
            <a:r>
              <a:t>&lt;h1&gt;Contato&lt;/h1&gt;</a:t>
            </a:r>
            <a:br/>
            <a:br/>
            <a:r>
              <a:t>&lt;nav&gt;</a:t>
            </a:r>
            <a:br/>
            <a:r>
              <a:t>    &lt;a href="index.html"&gt;Início&lt;/a&gt;</a:t>
            </a:r>
            <a:br/>
            <a:r>
              <a:t>    &lt;a href="sobre.html"&gt;Sobre&lt;/a&gt;</a:t>
            </a:r>
            <a:br/>
            <a:r>
              <a:t>    &lt;a href="servicos.html"&gt;Serviços&lt;/a&gt;</a:t>
            </a:r>
            <a:br/>
            <a:r>
              <a:t>    &lt;a href="contato.html"&gt;Contato&lt;/a&gt;</a:t>
            </a:r>
            <a:br/>
            <a:r>
              <a:t>&lt;/nav&gt;</a:t>
            </a:r>
            <a:br/>
            <a:br/>
            <a:r>
              <a:t>&lt;a href="mailto:contato@empresa.com"&gt;</a:t>
            </a:r>
            <a:br/>
            <a:r>
              <a:t>    Enviar e-mail</a:t>
            </a:r>
            <a:br/>
            <a:r>
              <a:t>&lt;/a&gt;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38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3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4</cp:revision>
  <dcterms:created xsi:type="dcterms:W3CDTF">2013-01-27T09:14:16Z</dcterms:created>
  <dcterms:modified xsi:type="dcterms:W3CDTF">2026-10-07T18:42:53Z</dcterms:modified>
  <cp:category/>
</cp:coreProperties>
</file>